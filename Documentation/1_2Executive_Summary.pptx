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4"/>
  </p:notesMasterIdLst>
  <p:sldIdLst>
    <p:sldId id="257"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560" y="5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1e3a6309cc6_3_31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1e3a6309cc6_3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7" name="Google Shape;67;p3"/>
          <p:cNvCxnSpPr>
            <a:stCxn id="68"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3"/>
          <p:cNvCxnSpPr/>
          <p:nvPr/>
        </p:nvCxnSpPr>
        <p:spPr>
          <a:xfrm flipH="1">
            <a:off x="3028995" y="901911"/>
            <a:ext cx="20400" cy="8834400"/>
          </a:xfrm>
          <a:prstGeom prst="straightConnector1">
            <a:avLst/>
          </a:prstGeom>
          <a:noFill/>
          <a:ln w="9525" cap="flat" cmpd="sng">
            <a:solidFill>
              <a:srgbClr val="CCCCCC"/>
            </a:solidFill>
            <a:prstDash val="solid"/>
            <a:round/>
            <a:headEnd type="none" w="med" len="med"/>
            <a:tailEnd type="none" w="med" len="med"/>
          </a:ln>
        </p:spPr>
      </p:cxnSp>
      <p:cxnSp>
        <p:nvCxnSpPr>
          <p:cNvPr id="83" name="Google Shape;83;p3"/>
          <p:cNvCxnSpPr>
            <a:stCxn id="84"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07100" y="2017025"/>
              <a:ext cx="135900" cy="146700"/>
            </a:xfrm>
            <a:prstGeom prst="chevron">
              <a:avLst>
                <a:gd name="adj" fmla="val 50000"/>
              </a:avLst>
            </a:prstGeom>
            <a:solidFill>
              <a:srgbClr val="0000F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07100" y="1559825"/>
              <a:ext cx="135900" cy="146700"/>
            </a:xfrm>
            <a:prstGeom prst="chevron">
              <a:avLst>
                <a:gd name="adj" fmla="val 50000"/>
              </a:avLst>
            </a:prstGeom>
            <a:solidFill>
              <a:srgbClr val="FF00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name="adj" fmla="val 50000"/>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507100" y="2017025"/>
              <a:ext cx="135900" cy="146700"/>
            </a:xfrm>
            <a:prstGeom prst="chevron">
              <a:avLst>
                <a:gd name="adj" fmla="val 50000"/>
              </a:avLst>
            </a:prstGeom>
            <a:solidFill>
              <a:srgbClr val="FFFF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name="adj" fmla="val 50000"/>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507100" y="2017025"/>
              <a:ext cx="135900" cy="146700"/>
            </a:xfrm>
            <a:prstGeom prst="chevron">
              <a:avLst>
                <a:gd name="adj" fmla="val 50000"/>
              </a:avLst>
            </a:prstGeom>
            <a:solidFill>
              <a:srgbClr val="38761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3" name="Google Shape;113;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21" name="Google Shape;12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22" name="Google Shape;12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23" name="Google Shape;12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24" name="Google Shape;12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7" name="Google Shape;157;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84" name="Google Shape;184;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96"/>
        <p:cNvGrpSpPr/>
        <p:nvPr/>
      </p:nvGrpSpPr>
      <p:grpSpPr>
        <a:xfrm>
          <a:off x="0" y="0"/>
          <a:ext cx="0" cy="0"/>
          <a:chOff x="0" y="0"/>
          <a:chExt cx="0" cy="0"/>
        </a:xfrm>
      </p:grpSpPr>
      <p:grpSp>
        <p:nvGrpSpPr>
          <p:cNvPr id="197" name="Google Shape;197;p9"/>
          <p:cNvGrpSpPr/>
          <p:nvPr/>
        </p:nvGrpSpPr>
        <p:grpSpPr>
          <a:xfrm>
            <a:off x="172055" y="1468890"/>
            <a:ext cx="7434543" cy="62982"/>
            <a:chOff x="1890075" y="5241175"/>
            <a:chExt cx="4240556" cy="257700"/>
          </a:xfrm>
        </p:grpSpPr>
        <p:sp>
          <p:nvSpPr>
            <p:cNvPr id="198" name="Google Shape;19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9" name="Google Shape;19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0" name="Google Shape;20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1" name="Google Shape;20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02" name="Google Shape;202;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203" name="Google Shape;203;p9"/>
          <p:cNvGrpSpPr/>
          <p:nvPr/>
        </p:nvGrpSpPr>
        <p:grpSpPr>
          <a:xfrm>
            <a:off x="168930" y="2702615"/>
            <a:ext cx="7434543" cy="62982"/>
            <a:chOff x="1890075" y="5241175"/>
            <a:chExt cx="4240556" cy="257700"/>
          </a:xfrm>
        </p:grpSpPr>
        <p:sp>
          <p:nvSpPr>
            <p:cNvPr id="204" name="Google Shape;204;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5" name="Google Shape;205;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6" name="Google Shape;206;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7" name="Google Shape;207;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08" name="Google Shape;208;p9"/>
          <p:cNvCxnSpPr>
            <a:stCxn id="198"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09" name="Google Shape;209;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10" name="Google Shape;210;p9"/>
          <p:cNvGrpSpPr/>
          <p:nvPr/>
        </p:nvGrpSpPr>
        <p:grpSpPr>
          <a:xfrm>
            <a:off x="0" y="3413775"/>
            <a:ext cx="3530025" cy="746350"/>
            <a:chOff x="0" y="3156075"/>
            <a:chExt cx="3530025" cy="746350"/>
          </a:xfrm>
        </p:grpSpPr>
        <p:sp>
          <p:nvSpPr>
            <p:cNvPr id="211" name="Google Shape;211;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2" name="Google Shape;212;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3" name="Google Shape;213;p9"/>
          <p:cNvGrpSpPr/>
          <p:nvPr/>
        </p:nvGrpSpPr>
        <p:grpSpPr>
          <a:xfrm>
            <a:off x="3248850" y="2867100"/>
            <a:ext cx="4936034" cy="746350"/>
            <a:chOff x="0" y="3156075"/>
            <a:chExt cx="3530025" cy="746350"/>
          </a:xfrm>
        </p:grpSpPr>
        <p:sp>
          <p:nvSpPr>
            <p:cNvPr id="214" name="Google Shape;214;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5" name="Google Shape;215;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6" name="Google Shape;216;p9"/>
          <p:cNvGrpSpPr/>
          <p:nvPr/>
        </p:nvGrpSpPr>
        <p:grpSpPr>
          <a:xfrm>
            <a:off x="3248850" y="7166275"/>
            <a:ext cx="4936034" cy="746350"/>
            <a:chOff x="0" y="3156075"/>
            <a:chExt cx="3530025" cy="746350"/>
          </a:xfrm>
        </p:grpSpPr>
        <p:sp>
          <p:nvSpPr>
            <p:cNvPr id="217" name="Google Shape;217;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8" name="Google Shape;218;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19" name="Google Shape;219;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20" name="Google Shape;220;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21" name="Google Shape;221;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22" name="Google Shape;222;p9"/>
          <p:cNvGrpSpPr/>
          <p:nvPr/>
        </p:nvGrpSpPr>
        <p:grpSpPr>
          <a:xfrm>
            <a:off x="172055" y="1468890"/>
            <a:ext cx="7434543" cy="62982"/>
            <a:chOff x="1890075" y="5241175"/>
            <a:chExt cx="4240556" cy="257700"/>
          </a:xfrm>
        </p:grpSpPr>
        <p:sp>
          <p:nvSpPr>
            <p:cNvPr id="223" name="Google Shape;223;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4" name="Google Shape;224;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5" name="Google Shape;225;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6" name="Google Shape;226;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27" name="Google Shape;227;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228" name="Google Shape;228;p9"/>
          <p:cNvGrpSpPr/>
          <p:nvPr/>
        </p:nvGrpSpPr>
        <p:grpSpPr>
          <a:xfrm>
            <a:off x="168930" y="2702615"/>
            <a:ext cx="7434543" cy="62982"/>
            <a:chOff x="1890075" y="5241175"/>
            <a:chExt cx="4240556" cy="257700"/>
          </a:xfrm>
        </p:grpSpPr>
        <p:sp>
          <p:nvSpPr>
            <p:cNvPr id="229" name="Google Shape;229;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0" name="Google Shape;230;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1" name="Google Shape;231;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2" name="Google Shape;232;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233" name="Google Shape;233;p9"/>
          <p:cNvCxnSpPr>
            <a:stCxn id="223"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4" name="Google Shape;234;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35" name="Google Shape;235;p9"/>
          <p:cNvGrpSpPr/>
          <p:nvPr/>
        </p:nvGrpSpPr>
        <p:grpSpPr>
          <a:xfrm>
            <a:off x="0" y="3413775"/>
            <a:ext cx="3530025" cy="746350"/>
            <a:chOff x="0" y="3156075"/>
            <a:chExt cx="3530025" cy="746350"/>
          </a:xfrm>
        </p:grpSpPr>
        <p:sp>
          <p:nvSpPr>
            <p:cNvPr id="236" name="Google Shape;236;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7" name="Google Shape;237;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8" name="Google Shape;238;p9"/>
          <p:cNvGrpSpPr/>
          <p:nvPr/>
        </p:nvGrpSpPr>
        <p:grpSpPr>
          <a:xfrm>
            <a:off x="3248850" y="2867100"/>
            <a:ext cx="4936034" cy="746350"/>
            <a:chOff x="0" y="3156075"/>
            <a:chExt cx="3530025" cy="746350"/>
          </a:xfrm>
        </p:grpSpPr>
        <p:sp>
          <p:nvSpPr>
            <p:cNvPr id="239" name="Google Shape;239;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0" name="Google Shape;240;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41" name="Google Shape;241;p9"/>
          <p:cNvGrpSpPr/>
          <p:nvPr/>
        </p:nvGrpSpPr>
        <p:grpSpPr>
          <a:xfrm>
            <a:off x="3248850" y="7166275"/>
            <a:ext cx="4936034" cy="746350"/>
            <a:chOff x="0" y="3156075"/>
            <a:chExt cx="3530025" cy="746350"/>
          </a:xfrm>
        </p:grpSpPr>
        <p:sp>
          <p:nvSpPr>
            <p:cNvPr id="242" name="Google Shape;242;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3" name="Google Shape;243;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44" name="Google Shape;244;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5" name="Google Shape;245;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6" name="Google Shape;246;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7" name="Google Shape;247;p9"/>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94" name="Google Shape;19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17"/>
          <p:cNvSpPr txBox="1"/>
          <p:nvPr/>
        </p:nvSpPr>
        <p:spPr>
          <a:xfrm>
            <a:off x="188700" y="1533300"/>
            <a:ext cx="3697500" cy="2850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SzPts val="852"/>
              <a:buNone/>
            </a:pPr>
            <a:r>
              <a:rPr lang="en" sz="1375">
                <a:latin typeface="Google Sans SemiBold"/>
                <a:ea typeface="Google Sans SemiBold"/>
                <a:cs typeface="Google Sans SemiBold"/>
                <a:sym typeface="Google Sans SemiBold"/>
              </a:rPr>
              <a:t>Project Overview</a:t>
            </a:r>
            <a:endParaRPr sz="1375">
              <a:solidFill>
                <a:srgbClr val="000000"/>
              </a:solidFill>
              <a:latin typeface="Google Sans SemiBold"/>
              <a:ea typeface="Google Sans SemiBold"/>
              <a:cs typeface="Google Sans SemiBold"/>
              <a:sym typeface="Google Sans SemiBold"/>
            </a:endParaRPr>
          </a:p>
        </p:txBody>
      </p:sp>
      <p:sp>
        <p:nvSpPr>
          <p:cNvPr id="421" name="Google Shape;421;p17"/>
          <p:cNvSpPr txBox="1"/>
          <p:nvPr/>
        </p:nvSpPr>
        <p:spPr>
          <a:xfrm>
            <a:off x="287625" y="1859125"/>
            <a:ext cx="7309500" cy="821733"/>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200" dirty="0">
                <a:solidFill>
                  <a:schemeClr val="dk1"/>
                </a:solidFill>
                <a:latin typeface="Roboto"/>
                <a:ea typeface="Roboto"/>
                <a:cs typeface="Roboto"/>
                <a:sym typeface="Roboto"/>
              </a:rPr>
              <a:t>The Waze data team is currently developing a data analytics project aimed at increasing overall growth by preventing monthly user churn on the Waze app. For the purposes of this project, churn quantifies the number of users who have uninstalled the Waze app or stopped using the app. </a:t>
            </a:r>
          </a:p>
        </p:txBody>
      </p:sp>
      <p:pic>
        <p:nvPicPr>
          <p:cNvPr id="4" name="Picture Placeholder 3">
            <a:extLst>
              <a:ext uri="{FF2B5EF4-FFF2-40B4-BE49-F238E27FC236}">
                <a16:creationId xmlns:a16="http://schemas.microsoft.com/office/drawing/2014/main" id="{C8858108-2DA3-54F1-CC5E-D0C15E0A11BD}"/>
              </a:ext>
            </a:extLst>
          </p:cNvPr>
          <p:cNvPicPr>
            <a:picLocks noGrp="1" noChangeAspect="1"/>
          </p:cNvPicPr>
          <p:nvPr>
            <p:ph type="pic" idx="2"/>
          </p:nvPr>
        </p:nvPicPr>
        <p:blipFill>
          <a:blip r:embed="rId3"/>
          <a:srcRect l="7537" r="7537"/>
          <a:stretch/>
        </p:blipFill>
        <p:spPr>
          <a:xfrm>
            <a:off x="3942375" y="3602825"/>
            <a:ext cx="3035400" cy="2495700"/>
          </a:xfrm>
          <a:prstGeom prst="rect">
            <a:avLst/>
          </a:prstGeom>
          <a:noFill/>
          <a:ln w="19050" cap="flat" cmpd="sng">
            <a:solidFill>
              <a:srgbClr val="000000"/>
            </a:solidFill>
            <a:prstDash val="solid"/>
            <a:round/>
            <a:headEnd type="none" w="sm" len="sm"/>
            <a:tailEnd type="none" w="sm" len="sm"/>
          </a:ln>
        </p:spPr>
      </p:pic>
      <p:sp>
        <p:nvSpPr>
          <p:cNvPr id="425" name="Google Shape;425;p17"/>
          <p:cNvSpPr txBox="1"/>
          <p:nvPr/>
        </p:nvSpPr>
        <p:spPr>
          <a:xfrm>
            <a:off x="188700" y="665125"/>
            <a:ext cx="5190000" cy="771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p>
            <a:pPr lvl="0">
              <a:lnSpc>
                <a:spcPct val="95000"/>
              </a:lnSpc>
            </a:pPr>
            <a:r>
              <a:rPr lang="en" sz="1600" b="1"/>
              <a:t>User Churn Project | Preliminary Data Summary</a:t>
            </a:r>
            <a:endParaRPr sz="1900" dirty="0">
              <a:solidFill>
                <a:srgbClr val="000000"/>
              </a:solidFill>
              <a:latin typeface="Google Sans SemiBold"/>
              <a:ea typeface="Google Sans SemiBold"/>
              <a:cs typeface="Google Sans SemiBold"/>
              <a:sym typeface="Google Sans SemiBold"/>
            </a:endParaRPr>
          </a:p>
        </p:txBody>
      </p:sp>
      <p:sp>
        <p:nvSpPr>
          <p:cNvPr id="2" name="TextBox 1">
            <a:extLst>
              <a:ext uri="{FF2B5EF4-FFF2-40B4-BE49-F238E27FC236}">
                <a16:creationId xmlns:a16="http://schemas.microsoft.com/office/drawing/2014/main" id="{00A7C835-2334-E321-B111-78943B85AD3B}"/>
              </a:ext>
            </a:extLst>
          </p:cNvPr>
          <p:cNvSpPr txBox="1"/>
          <p:nvPr/>
        </p:nvSpPr>
        <p:spPr>
          <a:xfrm>
            <a:off x="431800" y="4191000"/>
            <a:ext cx="2324100" cy="5940088"/>
          </a:xfrm>
          <a:prstGeom prst="rect">
            <a:avLst/>
          </a:prstGeom>
          <a:noFill/>
        </p:spPr>
        <p:txBody>
          <a:bodyPr wrap="square" rtlCol="0">
            <a:spAutoFit/>
          </a:bodyPr>
          <a:lstStyle/>
          <a:p>
            <a:pPr marL="285750" indent="-285750">
              <a:buFont typeface="Arial" panose="020B0604020202020204" pitchFamily="34" charset="0"/>
              <a:buChar char="•"/>
            </a:pPr>
            <a:r>
              <a:rPr lang="en-IN" sz="1000" dirty="0"/>
              <a:t>There are around 700 rows of missing data(only in the column named ”labels”.</a:t>
            </a:r>
          </a:p>
          <a:p>
            <a:pPr marL="285750" indent="-285750">
              <a:buFont typeface="Arial" panose="020B0604020202020204" pitchFamily="34" charset="0"/>
              <a:buChar char="•"/>
            </a:pPr>
            <a:r>
              <a:rPr lang="en-IN" sz="1000" dirty="0"/>
              <a:t>The ratio of device(iPhone and </a:t>
            </a:r>
            <a:r>
              <a:rPr lang="en-IN" sz="1000" dirty="0" err="1"/>
              <a:t>Andriod</a:t>
            </a:r>
            <a:r>
              <a:rPr lang="en-IN" sz="1000" dirty="0"/>
              <a:t>) had minimal difference in both null and full dataset</a:t>
            </a:r>
          </a:p>
          <a:p>
            <a:pPr marL="285750" indent="-285750">
              <a:buFont typeface="Arial" panose="020B0604020202020204" pitchFamily="34" charset="0"/>
              <a:buChar char="•"/>
            </a:pPr>
            <a:r>
              <a:rPr lang="en-IN" sz="1000" dirty="0"/>
              <a:t>The dataset had 82% retained and 17% churned users.</a:t>
            </a:r>
          </a:p>
          <a:p>
            <a:pPr marL="285750" indent="-285750">
              <a:buFont typeface="Arial" panose="020B0604020202020204" pitchFamily="34" charset="0"/>
              <a:buChar char="•"/>
            </a:pPr>
            <a:r>
              <a:rPr lang="en-IN" sz="1000" b="1" dirty="0"/>
              <a:t>IMP</a:t>
            </a:r>
            <a:r>
              <a:rPr lang="en-IN" sz="1000" dirty="0"/>
              <a:t> – Users who churned averaged ~3 more drives in the last month than retained users, even though retained users used the app over twice as many days as churned users in the same period</a:t>
            </a:r>
          </a:p>
          <a:p>
            <a:pPr marL="285750" indent="-285750">
              <a:buFont typeface="Arial" panose="020B0604020202020204" pitchFamily="34" charset="0"/>
              <a:buChar char="•"/>
            </a:pPr>
            <a:r>
              <a:rPr lang="en-IN" sz="1000" b="1" dirty="0"/>
              <a:t>IMP</a:t>
            </a:r>
            <a:r>
              <a:rPr lang="en-IN" sz="1000" dirty="0"/>
              <a:t> - Median data shows that churned user drove ~200 km more and 2.5 hours more during last month than the median retained user.</a:t>
            </a:r>
          </a:p>
          <a:p>
            <a:pPr marL="285750" indent="-285750">
              <a:buFont typeface="Arial" panose="020B0604020202020204" pitchFamily="34" charset="0"/>
              <a:buChar char="•"/>
            </a:pPr>
            <a:r>
              <a:rPr lang="en-IN" sz="1000" b="1" dirty="0"/>
              <a:t>IMP</a:t>
            </a:r>
            <a:r>
              <a:rPr lang="en-IN" sz="1000" dirty="0"/>
              <a:t> - The median user who churned, drove 698 km each day last month, which is almost 240% more than median retained users. Also the ratio of number of drives per day also were the same.</a:t>
            </a:r>
          </a:p>
          <a:p>
            <a:pPr marL="285750" indent="-285750">
              <a:buFont typeface="Arial" panose="020B0604020202020204" pitchFamily="34" charset="0"/>
              <a:buChar char="•"/>
            </a:pPr>
            <a:r>
              <a:rPr lang="en-IN" sz="1000" b="1" dirty="0"/>
              <a:t>IMP</a:t>
            </a:r>
            <a:r>
              <a:rPr lang="en-IN" sz="1000" dirty="0"/>
              <a:t> - This data suggests that they are someone who drives a lot, could be long distance truck drivers.</a:t>
            </a:r>
          </a:p>
          <a:p>
            <a:pPr marL="285750" indent="-285750">
              <a:buFont typeface="Arial" panose="020B0604020202020204" pitchFamily="34" charset="0"/>
              <a:buChar char="•"/>
            </a:pPr>
            <a:r>
              <a:rPr lang="en-IN" sz="1000" dirty="0"/>
              <a:t>Ratio of iPhone and Android users were also consistent between churned and retained group. These ratios are also consistent with ratios found in the overall </a:t>
            </a:r>
            <a:r>
              <a:rPr lang="en-IN" sz="1000" dirty="0" err="1"/>
              <a:t>datasetr</a:t>
            </a:r>
            <a:endParaRPr lang="en-IN" sz="1000" dirty="0"/>
          </a:p>
          <a:p>
            <a:pPr marL="285750" indent="-285750">
              <a:buFont typeface="Arial" panose="020B0604020202020204" pitchFamily="34" charset="0"/>
              <a:buChar char="•"/>
            </a:pPr>
            <a:endParaRPr lang="en-IN" sz="1000" dirty="0"/>
          </a:p>
        </p:txBody>
      </p:sp>
      <p:sp>
        <p:nvSpPr>
          <p:cNvPr id="5" name="TextBox 4">
            <a:extLst>
              <a:ext uri="{FF2B5EF4-FFF2-40B4-BE49-F238E27FC236}">
                <a16:creationId xmlns:a16="http://schemas.microsoft.com/office/drawing/2014/main" id="{51A99170-A1BB-CF1B-6448-479D2C7C6109}"/>
              </a:ext>
            </a:extLst>
          </p:cNvPr>
          <p:cNvSpPr txBox="1"/>
          <p:nvPr/>
        </p:nvSpPr>
        <p:spPr>
          <a:xfrm>
            <a:off x="3530600" y="7899400"/>
            <a:ext cx="3949700" cy="1600438"/>
          </a:xfrm>
          <a:prstGeom prst="rect">
            <a:avLst/>
          </a:prstGeom>
          <a:noFill/>
        </p:spPr>
        <p:txBody>
          <a:bodyPr wrap="square" rtlCol="0">
            <a:spAutoFit/>
          </a:bodyPr>
          <a:lstStyle/>
          <a:p>
            <a:pPr marL="285750" indent="-285750">
              <a:buFont typeface="Arial" panose="020B0604020202020204" pitchFamily="34" charset="0"/>
              <a:buChar char="•"/>
            </a:pPr>
            <a:r>
              <a:rPr lang="en-IN" dirty="0"/>
              <a:t>For the next step, I would request to gather more data related to the profile of the churned users, as they show a clear distinguishing pattern. Or maybe because the app is not meeting their specific needs.</a:t>
            </a:r>
          </a:p>
          <a:p>
            <a:pPr marL="285750" indent="-285750">
              <a:buFont typeface="Arial" panose="020B0604020202020204" pitchFamily="34" charset="0"/>
              <a:buChar char="•"/>
            </a:pPr>
            <a:r>
              <a:rPr lang="en-IN" dirty="0"/>
              <a:t>Perform EDA and visualization to gather more information about the data.</a:t>
            </a:r>
          </a:p>
        </p:txBody>
      </p:sp>
      <p:sp>
        <p:nvSpPr>
          <p:cNvPr id="7" name="TextBox 6">
            <a:extLst>
              <a:ext uri="{FF2B5EF4-FFF2-40B4-BE49-F238E27FC236}">
                <a16:creationId xmlns:a16="http://schemas.microsoft.com/office/drawing/2014/main" id="{8459B87B-DBE1-B30C-7A95-31EAB2B3ED0C}"/>
              </a:ext>
            </a:extLst>
          </p:cNvPr>
          <p:cNvSpPr txBox="1"/>
          <p:nvPr/>
        </p:nvSpPr>
        <p:spPr>
          <a:xfrm>
            <a:off x="188700" y="1063185"/>
            <a:ext cx="4095750" cy="307777"/>
          </a:xfrm>
          <a:prstGeom prst="rect">
            <a:avLst/>
          </a:prstGeom>
          <a:noFill/>
        </p:spPr>
        <p:txBody>
          <a:bodyPr wrap="square">
            <a:spAutoFit/>
          </a:bodyPr>
          <a:lstStyle/>
          <a:p>
            <a:pPr marL="0" lvl="0" indent="0" algn="l" rtl="0">
              <a:lnSpc>
                <a:spcPct val="100000"/>
              </a:lnSpc>
              <a:spcBef>
                <a:spcPts val="0"/>
              </a:spcBef>
              <a:spcAft>
                <a:spcPts val="1200"/>
              </a:spcAft>
              <a:buClr>
                <a:schemeClr val="dk1"/>
              </a:buClr>
              <a:buSzPts val="1100"/>
              <a:buFont typeface="Arial"/>
              <a:buNone/>
            </a:pPr>
            <a:r>
              <a:rPr lang="en-US" sz="1400" dirty="0">
                <a:latin typeface="Roboto"/>
                <a:ea typeface="Roboto"/>
                <a:cs typeface="Roboto"/>
                <a:sym typeface="Roboto"/>
              </a:rPr>
              <a:t>Prepared for: Waze Leadership Team</a:t>
            </a:r>
          </a:p>
        </p:txBody>
      </p:sp>
      <p:sp>
        <p:nvSpPr>
          <p:cNvPr id="3" name="TextBox 2">
            <a:extLst>
              <a:ext uri="{FF2B5EF4-FFF2-40B4-BE49-F238E27FC236}">
                <a16:creationId xmlns:a16="http://schemas.microsoft.com/office/drawing/2014/main" id="{EEF47C36-0A6E-D39C-0152-CFB9E9776F6E}"/>
              </a:ext>
            </a:extLst>
          </p:cNvPr>
          <p:cNvSpPr txBox="1"/>
          <p:nvPr/>
        </p:nvSpPr>
        <p:spPr>
          <a:xfrm>
            <a:off x="188700" y="2806700"/>
            <a:ext cx="2999000" cy="507831"/>
          </a:xfrm>
          <a:prstGeom prst="rect">
            <a:avLst/>
          </a:prstGeom>
          <a:noFill/>
        </p:spPr>
        <p:txBody>
          <a:bodyPr wrap="square" rtlCol="0">
            <a:spAutoFit/>
          </a:bodyPr>
          <a:lstStyle/>
          <a:p>
            <a:r>
              <a:rPr lang="en-IN" sz="900" dirty="0"/>
              <a:t>COMPLETED STEP(</a:t>
            </a:r>
            <a:r>
              <a:rPr lang="en-IN" sz="900"/>
              <a:t>EDA stage)</a:t>
            </a:r>
            <a:endParaRPr lang="en-IN" sz="900" dirty="0"/>
          </a:p>
          <a:p>
            <a:pPr marL="171450" indent="-171450">
              <a:buFont typeface="Arial" panose="020B0604020202020204" pitchFamily="34" charset="0"/>
              <a:buChar char="•"/>
            </a:pPr>
            <a:r>
              <a:rPr lang="en-IN" sz="900" dirty="0"/>
              <a:t>Explored the dataset, found missing values, found a specific pattern in churned users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339</Words>
  <Application>Microsoft Office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Google Sans SemiBold</vt:lpstr>
      <vt:lpstr>Roboto</vt:lpstr>
      <vt:lpstr>Lato</vt:lpstr>
      <vt:lpstr>PT Sans Narrow</vt:lpstr>
      <vt:lpstr>Arial</vt:lpstr>
      <vt:lpstr>Google Sans</vt:lpstr>
      <vt:lpstr>Work Sans</vt:lpstr>
      <vt:lpstr>Calibri</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Abhay R</cp:lastModifiedBy>
  <cp:revision>2</cp:revision>
  <dcterms:modified xsi:type="dcterms:W3CDTF">2026-02-21T08:33:17Z</dcterms:modified>
</cp:coreProperties>
</file>